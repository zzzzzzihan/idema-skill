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697E"/>
    <a:srgbClr val="948226"/>
    <a:srgbClr val="940054"/>
    <a:srgbClr val="1A2278"/>
    <a:srgbClr val="351264"/>
    <a:srgbClr val="164117"/>
    <a:srgbClr val="FFFFFB"/>
    <a:srgbClr val="FFFFFF"/>
    <a:srgbClr val="8781FF"/>
    <a:srgbClr val="3C68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013" autoAdjust="0"/>
    <p:restoredTop sz="94660"/>
  </p:normalViewPr>
  <p:slideViewPr>
    <p:cSldViewPr snapToGrid="0">
      <p:cViewPr>
        <p:scale>
          <a:sx n="75" d="100"/>
          <a:sy n="75" d="100"/>
        </p:scale>
        <p:origin x="1551" y="3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B428B-6DD0-C5CE-BD9E-90EAB5E2E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ACC729-C91F-04E8-1F37-2BF1C377A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089BB-5DBD-E0E6-0A68-CCE3B86E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3BED-1DE0-48A3-AE5A-B2297F01C83E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008011-B131-8B60-2B18-15E2688A4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B4A40A-8945-34F6-684F-174BAFC40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B32-FB03-4BF7-B65B-AB8B3992D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124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C3A66-9866-B7CD-A9A7-48851C29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3F60E4-6FC6-EAF7-0B14-F1BDBA848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A3A92F-B38E-C254-F5A3-B476FE37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3BED-1DE0-48A3-AE5A-B2297F01C83E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D36F53-6052-D1A4-D031-92208AB2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C87F88-ED43-F13E-DD86-63398013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B32-FB03-4BF7-B65B-AB8B3992D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726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24FC89-E961-A154-28DC-A6C3E0305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34B31F-C047-E7BF-C1D2-D29E3C3F5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0382AC-DA73-1B38-0C9C-85447BCC7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3BED-1DE0-48A3-AE5A-B2297F01C83E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82C91E-0BB6-778D-54FC-C887BD78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1B8E28-D9BD-0C57-B5DA-C19320D2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B32-FB03-4BF7-B65B-AB8B3992D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002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50630-4705-261D-E0A1-13BEB8A16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0B4D9F-E3DA-D5B7-9346-7C22DDB401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A2CB22-C54C-385C-1929-9F1B1B209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BB2659-AA8C-3762-CE63-18C883800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3BED-1DE0-48A3-AE5A-B2297F01C83E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F8F64C-9BFF-0A43-85CE-4F7132A1A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50649C-F3E4-BE8E-C3FF-28EDED998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B32-FB03-4BF7-B65B-AB8B3992D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493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24421F-CD9C-BEF4-291F-C0B72EBB7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6B9BF9-F7C0-ECDE-F282-B6F2582C5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AB8D3E-8A49-8922-4B6C-7F1DC5BA5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5F2984-B807-14E5-5704-F61487C002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77BB34-3011-0361-1C7D-D9150020E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C11C76-1C69-2EDD-5058-C83222EC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3BED-1DE0-48A3-AE5A-B2297F01C83E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7B7A42-A4B4-E254-BDCF-43B4B7C4D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9D59541-3B78-AE13-A7C8-39F180872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B32-FB03-4BF7-B65B-AB8B3992D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81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11F8D-0CE5-5274-CA02-E64BBEC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C2A919-188E-E326-84AA-7186AC28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3BED-1DE0-48A3-AE5A-B2297F01C83E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6563FB-D350-3380-4939-BA5C7D294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1987F1-0F0E-3E35-9BDA-C4B5E0372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B32-FB03-4BF7-B65B-AB8B3992D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438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59E5A5-E83D-4459-FF9D-D73767B50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3BED-1DE0-48A3-AE5A-B2297F01C83E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319124-9CED-CA2A-D2FF-35BEDCDE9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C2AEF8-75EC-F644-E988-A671D4628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B32-FB03-4BF7-B65B-AB8B3992D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76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79230-7D44-CEBC-A745-0537F1884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F911E8-B552-9937-24FE-01F5CFE44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41318D-8F5D-7FED-6779-2B2826DBF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9FC862-F9A7-81B8-7A6E-A713760E4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3BED-1DE0-48A3-AE5A-B2297F01C83E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91E95E-6B09-A3AD-0159-3D98FB7FF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E34051-A7E0-0C8A-ABEA-26F8575E9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B32-FB03-4BF7-B65B-AB8B3992D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791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27BA6F-805E-A564-2510-5E66D0543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05A1EF-0807-A074-AE60-6E468181D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C6A631-540D-6D8D-A567-19D8B0A5C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DC300A-57E7-AA65-1A01-5E2C0390A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3BED-1DE0-48A3-AE5A-B2297F01C83E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66E5C2-74BE-3B3B-F3EE-089F92EBB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CDBF30-45E9-DB7C-33AC-4C3F859E5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B32-FB03-4BF7-B65B-AB8B3992D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808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A8A97-BBDA-3A45-DB64-49618F3C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F68A97-244F-8CEF-EFB8-E05D6E905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2F1C06-E95D-6101-34CD-9ACA1316F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3BED-1DE0-48A3-AE5A-B2297F01C83E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10ECD1-978F-A90A-81F0-43D39CBA0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5477BB-226C-000E-06CA-07B154CF4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B32-FB03-4BF7-B65B-AB8B3992D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603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997033-1BE0-53F2-9E7A-5427EFAA8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83E8E0-007F-4B05-8377-9155E6FA2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91378A-D23A-E592-429B-E987BD6DD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E3BED-1DE0-48A3-AE5A-B2297F01C83E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B46F5E-2A76-0674-8C17-3B3478DD0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10AD4B-BF7B-4021-F7CD-8DA25ADBD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B32-FB03-4BF7-B65B-AB8B3992D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697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F05C029-387D-F613-6FFE-5F3025736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8D8D1E-47AA-06ED-1F4D-CE7644335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96316A-BDFC-DC07-826C-4AEE6397EC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E3BED-1DE0-48A3-AE5A-B2297F01C83E}" type="datetimeFigureOut">
              <a:rPr lang="zh-CN" altLang="en-US" smtClean="0"/>
              <a:t>2026/2/17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0EB02E-48BB-9AB7-F9E9-C07FA17118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F1F673-83CE-6109-ECA5-8A97522C2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6CB32-FB03-4BF7-B65B-AB8B3992D6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410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>
            <a:extLst>
              <a:ext uri="{FF2B5EF4-FFF2-40B4-BE49-F238E27FC236}">
                <a16:creationId xmlns:a16="http://schemas.microsoft.com/office/drawing/2014/main" id="{33D56842-0234-6000-A0DD-7EB6419B91AC}"/>
              </a:ext>
            </a:extLst>
          </p:cNvPr>
          <p:cNvSpPr/>
          <p:nvPr/>
        </p:nvSpPr>
        <p:spPr>
          <a:xfrm>
            <a:off x="8145308" y="4573826"/>
            <a:ext cx="4442242" cy="2300196"/>
          </a:xfrm>
          <a:prstGeom prst="rect">
            <a:avLst/>
          </a:prstGeom>
          <a:solidFill>
            <a:srgbClr val="35126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39564F8-DB0C-F2C0-D3C8-F2275AD33C95}"/>
              </a:ext>
            </a:extLst>
          </p:cNvPr>
          <p:cNvSpPr/>
          <p:nvPr/>
        </p:nvSpPr>
        <p:spPr>
          <a:xfrm>
            <a:off x="-20734" y="2192757"/>
            <a:ext cx="8168087" cy="2387667"/>
          </a:xfrm>
          <a:prstGeom prst="rect">
            <a:avLst/>
          </a:prstGeom>
          <a:solidFill>
            <a:srgbClr val="94822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FC52C0E-E593-524F-E69B-E1382301A7D5}"/>
              </a:ext>
            </a:extLst>
          </p:cNvPr>
          <p:cNvSpPr/>
          <p:nvPr/>
        </p:nvSpPr>
        <p:spPr>
          <a:xfrm>
            <a:off x="8149924" y="6355"/>
            <a:ext cx="4389252" cy="2182027"/>
          </a:xfrm>
          <a:prstGeom prst="rect">
            <a:avLst/>
          </a:prstGeom>
          <a:solidFill>
            <a:srgbClr val="1A227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C0A87E8-1F03-26F3-0D5C-5CDBDBE40382}"/>
              </a:ext>
            </a:extLst>
          </p:cNvPr>
          <p:cNvSpPr/>
          <p:nvPr/>
        </p:nvSpPr>
        <p:spPr>
          <a:xfrm>
            <a:off x="-57150" y="12700"/>
            <a:ext cx="8205788" cy="2182027"/>
          </a:xfrm>
          <a:prstGeom prst="rect">
            <a:avLst/>
          </a:prstGeom>
          <a:solidFill>
            <a:srgbClr val="940054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85131E-D1B2-2385-A378-943D76F601C4}"/>
              </a:ext>
            </a:extLst>
          </p:cNvPr>
          <p:cNvSpPr/>
          <p:nvPr/>
        </p:nvSpPr>
        <p:spPr>
          <a:xfrm>
            <a:off x="90488" y="42864"/>
            <a:ext cx="3757612" cy="2012461"/>
          </a:xfrm>
          <a:prstGeom prst="rect">
            <a:avLst/>
          </a:prstGeom>
          <a:solidFill>
            <a:srgbClr val="C49394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A40DEF-7B65-D6AB-E3C9-632769586D6B}"/>
              </a:ext>
            </a:extLst>
          </p:cNvPr>
          <p:cNvSpPr/>
          <p:nvPr/>
        </p:nvSpPr>
        <p:spPr>
          <a:xfrm>
            <a:off x="4217194" y="42864"/>
            <a:ext cx="3757612" cy="2012461"/>
          </a:xfrm>
          <a:prstGeom prst="rect">
            <a:avLst/>
          </a:prstGeom>
          <a:solidFill>
            <a:srgbClr val="CEA3D1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A0657B-8633-7907-A101-BD8A9465648B}"/>
              </a:ext>
            </a:extLst>
          </p:cNvPr>
          <p:cNvSpPr/>
          <p:nvPr/>
        </p:nvSpPr>
        <p:spPr>
          <a:xfrm>
            <a:off x="8343900" y="42863"/>
            <a:ext cx="3757612" cy="2012461"/>
          </a:xfrm>
          <a:prstGeom prst="rect">
            <a:avLst/>
          </a:prstGeom>
          <a:solidFill>
            <a:srgbClr val="AB95B9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3F544B-FB16-BE77-EC5A-19B840A3F33C}"/>
              </a:ext>
            </a:extLst>
          </p:cNvPr>
          <p:cNvSpPr/>
          <p:nvPr/>
        </p:nvSpPr>
        <p:spPr>
          <a:xfrm>
            <a:off x="4217194" y="2425152"/>
            <a:ext cx="3757612" cy="2012461"/>
          </a:xfrm>
          <a:prstGeom prst="rect">
            <a:avLst/>
          </a:prstGeom>
          <a:solidFill>
            <a:srgbClr val="FCED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F66468F-BF8B-C610-0A92-2DC7B505B118}"/>
              </a:ext>
            </a:extLst>
          </p:cNvPr>
          <p:cNvSpPr/>
          <p:nvPr/>
        </p:nvSpPr>
        <p:spPr>
          <a:xfrm>
            <a:off x="8343900" y="2425151"/>
            <a:ext cx="3757612" cy="2012461"/>
          </a:xfrm>
          <a:prstGeom prst="rect">
            <a:avLst/>
          </a:prstGeom>
          <a:solidFill>
            <a:srgbClr val="A1D1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7EC43F-98E3-E7C6-319B-4A8EEF4AB90F}"/>
              </a:ext>
            </a:extLst>
          </p:cNvPr>
          <p:cNvSpPr/>
          <p:nvPr/>
        </p:nvSpPr>
        <p:spPr>
          <a:xfrm>
            <a:off x="4217194" y="4807439"/>
            <a:ext cx="3757612" cy="2012461"/>
          </a:xfrm>
          <a:prstGeom prst="rect">
            <a:avLst/>
          </a:prstGeom>
          <a:solidFill>
            <a:srgbClr val="D5E2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F5DAC82-38EE-FF9F-ACB4-2DB0EA92FFFC}"/>
              </a:ext>
            </a:extLst>
          </p:cNvPr>
          <p:cNvSpPr/>
          <p:nvPr/>
        </p:nvSpPr>
        <p:spPr>
          <a:xfrm>
            <a:off x="8343900" y="4807439"/>
            <a:ext cx="3757612" cy="2012460"/>
          </a:xfrm>
          <a:prstGeom prst="rect">
            <a:avLst/>
          </a:prstGeom>
          <a:solidFill>
            <a:srgbClr val="8781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5C4DB8A-E573-39C0-3EAE-172F717AB624}"/>
              </a:ext>
            </a:extLst>
          </p:cNvPr>
          <p:cNvSpPr txBox="1"/>
          <p:nvPr/>
        </p:nvSpPr>
        <p:spPr>
          <a:xfrm>
            <a:off x="511175" y="307714"/>
            <a:ext cx="2905125" cy="503921"/>
          </a:xfrm>
          <a:prstGeom prst="rect">
            <a:avLst/>
          </a:prstGeom>
          <a:solidFill>
            <a:srgbClr val="EC8E8A">
              <a:alpha val="70000"/>
            </a:srgb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sz="1000" b="1" dirty="0">
                <a:solidFill>
                  <a:srgbClr val="9830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shock index surges after major model releases</a:t>
            </a:r>
            <a:endParaRPr lang="en-US" altLang="zh-CN" sz="1000" b="1" dirty="0">
              <a:solidFill>
                <a:srgbClr val="9830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000" b="1" dirty="0">
                <a:solidFill>
                  <a:srgbClr val="9830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peaking in late 2025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96A15D-8A84-0E7A-02CB-9AA522BFA38F}"/>
              </a:ext>
            </a:extLst>
          </p:cNvPr>
          <p:cNvSpPr txBox="1"/>
          <p:nvPr/>
        </p:nvSpPr>
        <p:spPr>
          <a:xfrm>
            <a:off x="1337310" y="57150"/>
            <a:ext cx="1332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5505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shock index</a:t>
            </a:r>
            <a:endParaRPr lang="zh-CN" altLang="en-US" sz="1400" b="1" dirty="0">
              <a:solidFill>
                <a:srgbClr val="5505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03693A7-6C6F-60E9-E965-04A6BD117C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590" y="843353"/>
            <a:ext cx="1870220" cy="935109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8372DD4-6569-B576-E2BA-271114C2116A}"/>
              </a:ext>
            </a:extLst>
          </p:cNvPr>
          <p:cNvSpPr/>
          <p:nvPr/>
        </p:nvSpPr>
        <p:spPr>
          <a:xfrm>
            <a:off x="90488" y="2425152"/>
            <a:ext cx="3757612" cy="2012461"/>
          </a:xfrm>
          <a:prstGeom prst="rect">
            <a:avLst/>
          </a:prstGeom>
          <a:solidFill>
            <a:srgbClr val="EFF6D2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3885A76-A5AC-9D6B-76D9-973057D3BE3B}"/>
              </a:ext>
            </a:extLst>
          </p:cNvPr>
          <p:cNvSpPr/>
          <p:nvPr/>
        </p:nvSpPr>
        <p:spPr>
          <a:xfrm>
            <a:off x="90488" y="4807439"/>
            <a:ext cx="3757612" cy="20124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770842-7273-2C8C-2519-B9DC987691C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07" y="842864"/>
            <a:ext cx="1799317" cy="1185561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E998F1D9-FC95-B591-9BCA-FA428EB0E97C}"/>
              </a:ext>
            </a:extLst>
          </p:cNvPr>
          <p:cNvSpPr txBox="1"/>
          <p:nvPr/>
        </p:nvSpPr>
        <p:spPr>
          <a:xfrm>
            <a:off x="5346699" y="43934"/>
            <a:ext cx="16922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55050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 Comparison</a:t>
            </a:r>
            <a:endParaRPr lang="zh-CN" altLang="en-US" sz="1400" b="1" dirty="0">
              <a:solidFill>
                <a:srgbClr val="55050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4DA4926-7975-E658-A2E2-723A5C9CD180}"/>
              </a:ext>
            </a:extLst>
          </p:cNvPr>
          <p:cNvSpPr txBox="1"/>
          <p:nvPr/>
        </p:nvSpPr>
        <p:spPr>
          <a:xfrm>
            <a:off x="4343404" y="842710"/>
            <a:ext cx="1622424" cy="939937"/>
          </a:xfrm>
          <a:prstGeom prst="rect">
            <a:avLst/>
          </a:prstGeom>
          <a:solidFill>
            <a:srgbClr val="DDB4DC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 latinLnBrk="1">
              <a:lnSpc>
                <a:spcPts val="1650"/>
              </a:lnSpc>
              <a:buNone/>
            </a:pPr>
            <a:r>
              <a:rPr lang="en-US" altLang="zh-CN" sz="1000" b="1" dirty="0">
                <a:solidFill>
                  <a:srgbClr val="94005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skill premium widens</a:t>
            </a:r>
          </a:p>
          <a:p>
            <a:pPr algn="ctr" latinLnBrk="1">
              <a:lnSpc>
                <a:spcPts val="1650"/>
              </a:lnSpc>
              <a:buNone/>
            </a:pPr>
            <a:r>
              <a:rPr lang="en-US" altLang="zh-CN" sz="1000" b="1" dirty="0">
                <a:solidFill>
                  <a:srgbClr val="94005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0.3% to 21%, </a:t>
            </a:r>
          </a:p>
          <a:p>
            <a:pPr algn="ctr" latinLnBrk="1">
              <a:lnSpc>
                <a:spcPts val="1650"/>
              </a:lnSpc>
              <a:buNone/>
            </a:pPr>
            <a:r>
              <a:rPr lang="en-US" altLang="zh-CN" sz="1000" b="1" dirty="0">
                <a:solidFill>
                  <a:srgbClr val="94005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editor</a:t>
            </a:r>
          </a:p>
          <a:p>
            <a:pPr algn="ctr" latinLnBrk="1">
              <a:lnSpc>
                <a:spcPts val="1650"/>
              </a:lnSpc>
              <a:buNone/>
            </a:pPr>
            <a:r>
              <a:rPr lang="en-US" altLang="zh-CN" sz="1000" b="1" dirty="0">
                <a:solidFill>
                  <a:srgbClr val="94005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wages decline</a:t>
            </a:r>
            <a:r>
              <a:rPr lang="en-US" altLang="zh-CN" sz="1000" b="1" dirty="0">
                <a:solidFill>
                  <a:srgbClr val="9400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1000" b="1" dirty="0">
              <a:solidFill>
                <a:srgbClr val="94005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038B79C8-1D83-483B-676C-A0EB1EF9122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850" y="358662"/>
            <a:ext cx="1899289" cy="1247488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6FF47D8F-3DD1-5596-361F-7FF37561E703}"/>
              </a:ext>
            </a:extLst>
          </p:cNvPr>
          <p:cNvSpPr txBox="1"/>
          <p:nvPr/>
        </p:nvSpPr>
        <p:spPr>
          <a:xfrm>
            <a:off x="9150407" y="24884"/>
            <a:ext cx="2129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3512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 Mechanism</a:t>
            </a:r>
            <a:endParaRPr lang="zh-CN" altLang="en-US" sz="1400" b="1" dirty="0">
              <a:solidFill>
                <a:srgbClr val="3512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14828A8-B6A5-372E-30FF-AA892BD6E1B2}"/>
              </a:ext>
            </a:extLst>
          </p:cNvPr>
          <p:cNvSpPr txBox="1"/>
          <p:nvPr/>
        </p:nvSpPr>
        <p:spPr>
          <a:xfrm>
            <a:off x="8370885" y="301684"/>
            <a:ext cx="1743074" cy="721929"/>
          </a:xfrm>
          <a:prstGeom prst="rect">
            <a:avLst/>
          </a:prstGeom>
          <a:solidFill>
            <a:srgbClr val="8781FF">
              <a:alpha val="60000"/>
            </a:srgb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 latinLnBrk="1">
              <a:lnSpc>
                <a:spcPts val="1650"/>
              </a:lnSpc>
              <a:buNone/>
            </a:pPr>
            <a:r>
              <a:rPr lang="en-US" altLang="zh-CN" sz="1000" b="1" dirty="0">
                <a:solidFill>
                  <a:srgbClr val="4817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guarantee function</a:t>
            </a:r>
          </a:p>
          <a:p>
            <a:pPr algn="ctr" latinLnBrk="1">
              <a:lnSpc>
                <a:spcPts val="1650"/>
              </a:lnSpc>
              <a:buNone/>
            </a:pPr>
            <a:r>
              <a:rPr lang="en-US" altLang="zh-CN" sz="1000" b="1" dirty="0">
                <a:solidFill>
                  <a:srgbClr val="4817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K(t) = K₀[1-γλ(t)] </a:t>
            </a:r>
          </a:p>
          <a:p>
            <a:pPr algn="ctr" latinLnBrk="1">
              <a:lnSpc>
                <a:spcPts val="1650"/>
              </a:lnSpc>
              <a:buNone/>
            </a:pPr>
            <a:r>
              <a:rPr lang="en-US" altLang="zh-CN" sz="1000" b="1" dirty="0">
                <a:solidFill>
                  <a:srgbClr val="4817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visualized in 3D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82F82908-5899-F4A6-0921-4BCCDE8C06C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68"/>
          <a:stretch>
            <a:fillRect/>
          </a:stretch>
        </p:blipFill>
        <p:spPr>
          <a:xfrm>
            <a:off x="10144125" y="355222"/>
            <a:ext cx="1925649" cy="1658358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6FF98C56-5014-E035-24AD-4DEA983DF9F8}"/>
              </a:ext>
            </a:extLst>
          </p:cNvPr>
          <p:cNvSpPr txBox="1"/>
          <p:nvPr/>
        </p:nvSpPr>
        <p:spPr>
          <a:xfrm>
            <a:off x="988060" y="2422525"/>
            <a:ext cx="2018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9482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Monte Carlo simulation</a:t>
            </a:r>
            <a:endParaRPr lang="zh-CN" altLang="en-US" sz="1400" b="1" dirty="0">
              <a:solidFill>
                <a:srgbClr val="9482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AC8D7BBA-9E30-6171-3E30-BB701D98E8C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2730302"/>
            <a:ext cx="2620719" cy="1670251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B09CBAD5-683A-03FF-E36E-DB1A0C69907B}"/>
              </a:ext>
            </a:extLst>
          </p:cNvPr>
          <p:cNvSpPr txBox="1"/>
          <p:nvPr/>
        </p:nvSpPr>
        <p:spPr>
          <a:xfrm>
            <a:off x="2746367" y="2803669"/>
            <a:ext cx="1063639" cy="1154932"/>
          </a:xfrm>
          <a:prstGeom prst="rect">
            <a:avLst/>
          </a:prstGeom>
          <a:solidFill>
            <a:srgbClr val="CECFAD"/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 latinLnBrk="1">
              <a:lnSpc>
                <a:spcPts val="1650"/>
              </a:lnSpc>
              <a:buNone/>
            </a:pPr>
            <a:r>
              <a:rPr lang="en-US" altLang="zh-CN" sz="900" b="1" dirty="0">
                <a:solidFill>
                  <a:srgbClr val="A3A54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10,000 Monte</a:t>
            </a:r>
          </a:p>
          <a:p>
            <a:pPr algn="ctr" latinLnBrk="1">
              <a:lnSpc>
                <a:spcPts val="1650"/>
              </a:lnSpc>
              <a:buNone/>
            </a:pPr>
            <a:r>
              <a:rPr lang="en-US" altLang="zh-CN" sz="900" b="1" dirty="0">
                <a:solidFill>
                  <a:srgbClr val="A3A54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Carlo paths:</a:t>
            </a:r>
          </a:p>
          <a:p>
            <a:pPr algn="ctr" latinLnBrk="1">
              <a:lnSpc>
                <a:spcPts val="1650"/>
              </a:lnSpc>
              <a:buNone/>
            </a:pPr>
            <a:r>
              <a:rPr lang="en-US" altLang="zh-CN" sz="900" b="1" dirty="0">
                <a:solidFill>
                  <a:srgbClr val="A3A54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97.7% fall below</a:t>
            </a:r>
          </a:p>
          <a:p>
            <a:pPr algn="ctr" latinLnBrk="1">
              <a:lnSpc>
                <a:spcPts val="1650"/>
              </a:lnSpc>
              <a:buNone/>
            </a:pPr>
            <a:r>
              <a:rPr lang="en-US" altLang="zh-CN" sz="900" b="1" dirty="0">
                <a:solidFill>
                  <a:srgbClr val="A3A5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900" b="1" dirty="0">
                <a:solidFill>
                  <a:srgbClr val="A3A54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uarantee</a:t>
            </a:r>
          </a:p>
          <a:p>
            <a:pPr algn="ctr" latinLnBrk="1">
              <a:lnSpc>
                <a:spcPts val="1650"/>
              </a:lnSpc>
              <a:buNone/>
            </a:pPr>
            <a:r>
              <a:rPr lang="en-US" altLang="zh-CN" sz="900" b="1" dirty="0">
                <a:solidFill>
                  <a:srgbClr val="A3A54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threshold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CB8C43-52AC-123E-6604-8ED087E093D9}"/>
              </a:ext>
            </a:extLst>
          </p:cNvPr>
          <p:cNvSpPr txBox="1"/>
          <p:nvPr/>
        </p:nvSpPr>
        <p:spPr>
          <a:xfrm>
            <a:off x="5307455" y="2394413"/>
            <a:ext cx="1411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9F5F0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 analysis</a:t>
            </a:r>
            <a:endParaRPr lang="zh-CN" altLang="en-US" sz="1400" b="1" dirty="0">
              <a:solidFill>
                <a:srgbClr val="9F5F0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A2B871B6-B14C-3648-320C-35EFF8BDEFC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2671451"/>
            <a:ext cx="3550548" cy="1750693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968D8E61-7210-2277-5884-22F6B5F53E39}"/>
              </a:ext>
            </a:extLst>
          </p:cNvPr>
          <p:cNvSpPr txBox="1"/>
          <p:nvPr/>
        </p:nvSpPr>
        <p:spPr>
          <a:xfrm>
            <a:off x="9156754" y="2382328"/>
            <a:ext cx="2129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1A69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Sensitivity Heatmap</a:t>
            </a:r>
            <a:endParaRPr lang="zh-CN" altLang="en-US" sz="1400" b="1" dirty="0">
              <a:solidFill>
                <a:srgbClr val="1A697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AF7C5857-766D-C2D8-90F7-4781138FEDEA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25" y="2917825"/>
            <a:ext cx="3674323" cy="1507494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6C282F98-51ED-0EAC-24A8-B493389EE802}"/>
              </a:ext>
            </a:extLst>
          </p:cNvPr>
          <p:cNvSpPr txBox="1"/>
          <p:nvPr/>
        </p:nvSpPr>
        <p:spPr>
          <a:xfrm>
            <a:off x="8380409" y="2616465"/>
            <a:ext cx="3674323" cy="285912"/>
          </a:xfrm>
          <a:prstGeom prst="rect">
            <a:avLst/>
          </a:prstGeom>
          <a:solidFill>
            <a:srgbClr val="7BA9ED">
              <a:alpha val="40000"/>
            </a:srgb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ctr" latinLnBrk="1">
              <a:lnSpc>
                <a:spcPts val="1650"/>
              </a:lnSpc>
              <a:buNone/>
            </a:pPr>
            <a:r>
              <a:rPr lang="en-US" altLang="zh-CN" sz="1000" b="1" dirty="0">
                <a:solidFill>
                  <a:srgbClr val="3589B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Sensitivity: K drives trigger probability, η has moderate impact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6DB7BAD-9308-D50A-1910-A66090C66B2E}"/>
              </a:ext>
            </a:extLst>
          </p:cNvPr>
          <p:cNvSpPr txBox="1"/>
          <p:nvPr/>
        </p:nvSpPr>
        <p:spPr>
          <a:xfrm>
            <a:off x="988063" y="4766577"/>
            <a:ext cx="17956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1641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Premium Surface</a:t>
            </a:r>
            <a:endParaRPr lang="zh-CN" altLang="en-US" sz="1400" b="1" dirty="0">
              <a:solidFill>
                <a:srgbClr val="16411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A4DD8E9E-8940-0DC9-2377-67AE75B0F141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5351381"/>
            <a:ext cx="3311525" cy="142971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C510C997-A17A-3B13-F9FA-B6C585CFB463}"/>
              </a:ext>
            </a:extLst>
          </p:cNvPr>
          <p:cNvSpPr txBox="1"/>
          <p:nvPr/>
        </p:nvSpPr>
        <p:spPr>
          <a:xfrm>
            <a:off x="120650" y="5028940"/>
            <a:ext cx="3296444" cy="285912"/>
          </a:xfrm>
          <a:prstGeom prst="rect">
            <a:avLst/>
          </a:prstGeom>
          <a:solidFill>
            <a:srgbClr val="A0D897">
              <a:alpha val="70000"/>
            </a:srgb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sz="1000" b="1" dirty="0">
                <a:solidFill>
                  <a:srgbClr val="21612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Fair premium surface: elasticities of 5.45 (K) and 0.15 (η)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B2F6FBC-F508-943C-26AB-A5E07A240BDE}"/>
              </a:ext>
            </a:extLst>
          </p:cNvPr>
          <p:cNvSpPr txBox="1"/>
          <p:nvPr/>
        </p:nvSpPr>
        <p:spPr>
          <a:xfrm>
            <a:off x="6366652" y="5566251"/>
            <a:ext cx="1620893" cy="297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>
              <a:lnSpc>
                <a:spcPts val="1650"/>
              </a:lnSpc>
            </a:pPr>
            <a:r>
              <a:rPr lang="en-US" altLang="zh-CN" sz="1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Premium elasticity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E2F1C01-3BA9-549C-D546-B05B307CD2E3}"/>
              </a:ext>
            </a:extLst>
          </p:cNvPr>
          <p:cNvSpPr txBox="1"/>
          <p:nvPr/>
        </p:nvSpPr>
        <p:spPr>
          <a:xfrm>
            <a:off x="6425249" y="6046489"/>
            <a:ext cx="1444888" cy="721929"/>
          </a:xfrm>
          <a:prstGeom prst="rect">
            <a:avLst/>
          </a:prstGeom>
          <a:solidFill>
            <a:srgbClr val="609FD0">
              <a:alpha val="40000"/>
            </a:srgb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sz="1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5.45 w.r.t K, 0.15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1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w.r.t η - pricing robust to AI uncertainty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563C3E87-C113-A383-24ED-0D2F9B9217D7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682" y="5036560"/>
            <a:ext cx="2075088" cy="1752151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C4682412-E566-7D40-46F8-59D5B03D1954}"/>
              </a:ext>
            </a:extLst>
          </p:cNvPr>
          <p:cNvSpPr txBox="1"/>
          <p:nvPr/>
        </p:nvSpPr>
        <p:spPr>
          <a:xfrm>
            <a:off x="9163104" y="5408104"/>
            <a:ext cx="2129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3512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 Design</a:t>
            </a:r>
            <a:endParaRPr lang="zh-CN" altLang="en-US" sz="1400" b="1" dirty="0">
              <a:solidFill>
                <a:srgbClr val="3512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图片 53" descr="图表, 饼图&#10;">
            <a:extLst>
              <a:ext uri="{FF2B5EF4-FFF2-40B4-BE49-F238E27FC236}">
                <a16:creationId xmlns:a16="http://schemas.microsoft.com/office/drawing/2014/main" id="{9394F8A8-71D4-B121-B070-88CCDA326687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4" t="7921" r="3410" b="9758"/>
          <a:stretch>
            <a:fillRect/>
          </a:stretch>
        </p:blipFill>
        <p:spPr>
          <a:xfrm>
            <a:off x="9660542" y="5713809"/>
            <a:ext cx="2420739" cy="1084668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D79E6544-C8BE-DEA9-7CA8-E99269A42C44}"/>
              </a:ext>
            </a:extLst>
          </p:cNvPr>
          <p:cNvSpPr txBox="1"/>
          <p:nvPr/>
        </p:nvSpPr>
        <p:spPr>
          <a:xfrm>
            <a:off x="8354775" y="5776201"/>
            <a:ext cx="1334200" cy="936923"/>
          </a:xfrm>
          <a:prstGeom prst="rect">
            <a:avLst/>
          </a:prstGeom>
          <a:solidFill>
            <a:srgbClr val="1A2278">
              <a:alpha val="40000"/>
            </a:srgbClr>
          </a:solidFill>
          <a:effectLst>
            <a:softEdge rad="31750"/>
          </a:effectLst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sz="900" b="1" dirty="0">
                <a:solidFill>
                  <a:srgbClr val="1A22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contract designs: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sz="900" b="1" dirty="0">
                <a:solidFill>
                  <a:srgbClr val="1A22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Budget (K=3500), Balanced (K=4500), Premium (K=5500)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5C69CFE-97AC-BACF-28F6-FB570B8D8CB6}"/>
              </a:ext>
            </a:extLst>
          </p:cNvPr>
          <p:cNvSpPr/>
          <p:nvPr/>
        </p:nvSpPr>
        <p:spPr>
          <a:xfrm>
            <a:off x="1933479" y="1826956"/>
            <a:ext cx="506869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940054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 1   Problem Recognition (Background Level)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0D6F668-A464-D907-60DD-FE9C0B4B3221}"/>
              </a:ext>
            </a:extLst>
          </p:cNvPr>
          <p:cNvSpPr/>
          <p:nvPr/>
        </p:nvSpPr>
        <p:spPr>
          <a:xfrm>
            <a:off x="1777744" y="4248122"/>
            <a:ext cx="496193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948226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 3   Method Validation (Methodology Layer)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7BBBE414-F387-0D64-2695-7AA382A1E977}"/>
              </a:ext>
            </a:extLst>
          </p:cNvPr>
          <p:cNvSpPr/>
          <p:nvPr/>
        </p:nvSpPr>
        <p:spPr>
          <a:xfrm>
            <a:off x="8145989" y="1309650"/>
            <a:ext cx="20633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351264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</a:p>
          <a:p>
            <a:pPr algn="ctr"/>
            <a:r>
              <a:rPr lang="en-US" altLang="zh-CN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351264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Scheme Design </a:t>
            </a:r>
          </a:p>
          <a:p>
            <a:pPr algn="ctr"/>
            <a:r>
              <a:rPr lang="en-US" altLang="zh-CN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351264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(Innovation Layer)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7C47238-DC5D-4842-6C39-9D574825CF07}"/>
              </a:ext>
            </a:extLst>
          </p:cNvPr>
          <p:cNvSpPr/>
          <p:nvPr/>
        </p:nvSpPr>
        <p:spPr>
          <a:xfrm>
            <a:off x="6311457" y="4592824"/>
            <a:ext cx="16915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</a:p>
          <a:p>
            <a:pPr algn="ctr"/>
            <a:r>
              <a:rPr lang="en-US" altLang="zh-CN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  <a:p>
            <a:pPr algn="ctr"/>
            <a:r>
              <a:rPr lang="en-US" altLang="zh-CN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(Insight Layer)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7B27021-2D2E-E812-4D2D-E03D6AFCE5C3}"/>
              </a:ext>
            </a:extLst>
          </p:cNvPr>
          <p:cNvSpPr/>
          <p:nvPr/>
        </p:nvSpPr>
        <p:spPr>
          <a:xfrm>
            <a:off x="8790516" y="4645038"/>
            <a:ext cx="31086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1A2278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 5   Practical Application </a:t>
            </a:r>
          </a:p>
          <a:p>
            <a:pPr algn="ctr"/>
            <a:r>
              <a:rPr lang="en-US" altLang="zh-CN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1A2278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(Output Layer)</a:t>
            </a:r>
          </a:p>
        </p:txBody>
      </p:sp>
      <p:sp>
        <p:nvSpPr>
          <p:cNvPr id="69" name="箭头: 右 68">
            <a:extLst>
              <a:ext uri="{FF2B5EF4-FFF2-40B4-BE49-F238E27FC236}">
                <a16:creationId xmlns:a16="http://schemas.microsoft.com/office/drawing/2014/main" id="{1D13832B-1E56-F4E6-CDAB-84F81D07AA0C}"/>
              </a:ext>
            </a:extLst>
          </p:cNvPr>
          <p:cNvSpPr/>
          <p:nvPr/>
        </p:nvSpPr>
        <p:spPr>
          <a:xfrm>
            <a:off x="3690940" y="542922"/>
            <a:ext cx="660397" cy="267473"/>
          </a:xfrm>
          <a:prstGeom prst="rightArrow">
            <a:avLst/>
          </a:prstGeom>
          <a:solidFill>
            <a:srgbClr val="940054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箭头: 右 69">
            <a:extLst>
              <a:ext uri="{FF2B5EF4-FFF2-40B4-BE49-F238E27FC236}">
                <a16:creationId xmlns:a16="http://schemas.microsoft.com/office/drawing/2014/main" id="{4EDBD7CA-EDDC-1117-ADED-0C94118EF160}"/>
              </a:ext>
            </a:extLst>
          </p:cNvPr>
          <p:cNvSpPr/>
          <p:nvPr/>
        </p:nvSpPr>
        <p:spPr>
          <a:xfrm>
            <a:off x="3701450" y="3985074"/>
            <a:ext cx="660397" cy="267473"/>
          </a:xfrm>
          <a:prstGeom prst="rightArrow">
            <a:avLst/>
          </a:prstGeom>
          <a:solidFill>
            <a:srgbClr val="948226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48226"/>
              </a:solidFill>
            </a:endParaRPr>
          </a:p>
        </p:txBody>
      </p:sp>
      <p:sp>
        <p:nvSpPr>
          <p:cNvPr id="71" name="箭头: 右 70">
            <a:extLst>
              <a:ext uri="{FF2B5EF4-FFF2-40B4-BE49-F238E27FC236}">
                <a16:creationId xmlns:a16="http://schemas.microsoft.com/office/drawing/2014/main" id="{94EE785F-D0F4-F6ED-EB7B-A0491A5DD38A}"/>
              </a:ext>
            </a:extLst>
          </p:cNvPr>
          <p:cNvSpPr/>
          <p:nvPr/>
        </p:nvSpPr>
        <p:spPr>
          <a:xfrm>
            <a:off x="3638540" y="5867405"/>
            <a:ext cx="660397" cy="267473"/>
          </a:xfrm>
          <a:prstGeom prst="rightArrow">
            <a:avLst/>
          </a:prstGeom>
          <a:solidFill>
            <a:srgbClr val="1A697E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箭头: 左弧形 71">
            <a:extLst>
              <a:ext uri="{FF2B5EF4-FFF2-40B4-BE49-F238E27FC236}">
                <a16:creationId xmlns:a16="http://schemas.microsoft.com/office/drawing/2014/main" id="{ECCB842D-526A-54BF-370F-E043B6D490F8}"/>
              </a:ext>
            </a:extLst>
          </p:cNvPr>
          <p:cNvSpPr/>
          <p:nvPr/>
        </p:nvSpPr>
        <p:spPr>
          <a:xfrm rot="13646627">
            <a:off x="8137019" y="4201154"/>
            <a:ext cx="342879" cy="999762"/>
          </a:xfrm>
          <a:prstGeom prst="curvedRightArrow">
            <a:avLst>
              <a:gd name="adj1" fmla="val 62853"/>
              <a:gd name="adj2" fmla="val 127348"/>
              <a:gd name="adj3" fmla="val 67464"/>
            </a:avLst>
          </a:prstGeom>
          <a:solidFill>
            <a:srgbClr val="1A697E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344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宽屏</PresentationFormat>
  <Paragraphs>39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子涵 沙</dc:creator>
  <cp:lastModifiedBy>子涵 沙</cp:lastModifiedBy>
  <cp:revision>1</cp:revision>
  <dcterms:created xsi:type="dcterms:W3CDTF">2026-02-17T14:09:12Z</dcterms:created>
  <dcterms:modified xsi:type="dcterms:W3CDTF">2026-02-17T14:09:12Z</dcterms:modified>
</cp:coreProperties>
</file>